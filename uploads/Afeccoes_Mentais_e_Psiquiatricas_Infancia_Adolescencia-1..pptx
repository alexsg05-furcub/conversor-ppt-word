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Imagen 7" descr="Imagen que contiene dibujo&#10;&#10;El contenido generado por IA puede ser incorrecto.">
            <a:extLst>
              <a:ext uri="{FF2B5EF4-FFF2-40B4-BE49-F238E27FC236}">
                <a16:creationId xmlns:a16="http://schemas.microsoft.com/office/drawing/2014/main" id="{C692D674-E04D-62E2-F6CC-0FEAE460F7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37600" y="5838720"/>
            <a:ext cx="3264644" cy="94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678" y="1893576"/>
            <a:ext cx="10972800" cy="1143000"/>
          </a:xfrm>
        </p:spPr>
        <p:txBody>
          <a:bodyPr>
            <a:normAutofit/>
          </a:bodyPr>
          <a:lstStyle/>
          <a:p>
            <a:r>
              <a:rPr sz="2800" b="1" dirty="0" err="1"/>
              <a:t>Afecções</a:t>
            </a:r>
            <a:r>
              <a:rPr sz="2800" b="1" dirty="0"/>
              <a:t> </a:t>
            </a:r>
            <a:r>
              <a:rPr sz="2800" b="1" dirty="0" err="1"/>
              <a:t>Mentais</a:t>
            </a:r>
            <a:r>
              <a:rPr sz="2800" b="1" dirty="0"/>
              <a:t> e </a:t>
            </a:r>
            <a:r>
              <a:rPr sz="2800" b="1" dirty="0" err="1"/>
              <a:t>Psiquiátricas</a:t>
            </a:r>
            <a:r>
              <a:rPr sz="2800" b="1" dirty="0"/>
              <a:t> </a:t>
            </a:r>
            <a:r>
              <a:rPr sz="2800" b="1" dirty="0" err="1"/>
              <a:t>na</a:t>
            </a:r>
            <a:r>
              <a:rPr sz="2800" b="1" dirty="0"/>
              <a:t> </a:t>
            </a:r>
            <a:r>
              <a:rPr sz="2800" b="1" dirty="0" err="1"/>
              <a:t>Infância</a:t>
            </a:r>
            <a:r>
              <a:rPr sz="2800" b="1" dirty="0"/>
              <a:t> e </a:t>
            </a:r>
            <a:r>
              <a:rPr sz="2800" b="1" dirty="0" err="1"/>
              <a:t>Adolescência</a:t>
            </a:r>
            <a:endParaRPr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838" y="670811"/>
            <a:ext cx="10972800" cy="89940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sz="4000" b="1" dirty="0" err="1"/>
              <a:t>Disciplina</a:t>
            </a:r>
            <a:r>
              <a:rPr sz="4000" b="1" dirty="0"/>
              <a:t>: Enfermagem </a:t>
            </a:r>
            <a:r>
              <a:rPr lang="pt-PT" sz="4000" b="1" dirty="0"/>
              <a:t>em saude mental e </a:t>
            </a:r>
            <a:r>
              <a:rPr sz="4000" b="1" dirty="0" err="1"/>
              <a:t>Psiquiátrica</a:t>
            </a:r>
            <a:endParaRPr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5140F-B699-FF75-DACE-9AEA7679B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34831"/>
          </a:xfrm>
        </p:spPr>
        <p:txBody>
          <a:bodyPr>
            <a:normAutofit fontScale="90000"/>
          </a:bodyPr>
          <a:lstStyle/>
          <a:p>
            <a:r>
              <a:rPr lang="es-ES" sz="2400" dirty="0"/>
              <a:t>RESUMO DE SALA DE AULAS</a:t>
            </a:r>
            <a:br>
              <a:rPr lang="es-ES" sz="2400" dirty="0"/>
            </a:br>
            <a:endParaRPr lang="es-ES" sz="2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F7587C-252F-4666-2711-FDFB51C0E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9469"/>
            <a:ext cx="12192000" cy="5257799"/>
          </a:xfrm>
        </p:spPr>
        <p:txBody>
          <a:bodyPr>
            <a:noAutofit/>
          </a:bodyPr>
          <a:lstStyle/>
          <a:p>
            <a:r>
              <a:rPr lang="es-ES" sz="2400" dirty="0"/>
              <a:t>Relacione coluna A  com coluna B segundo corresponda com a semiología em </a:t>
            </a:r>
            <a:r>
              <a:rPr lang="es-ES" sz="2400" dirty="0" err="1"/>
              <a:t>saude</a:t>
            </a:r>
            <a:r>
              <a:rPr lang="es-ES" sz="2400" dirty="0"/>
              <a:t> mental e </a:t>
            </a:r>
            <a:r>
              <a:rPr lang="es-ES" sz="2400" dirty="0" err="1"/>
              <a:t>psiquiatria</a:t>
            </a:r>
            <a:r>
              <a:rPr lang="es-ES" sz="2400" dirty="0"/>
              <a:t> </a:t>
            </a:r>
          </a:p>
          <a:p>
            <a:r>
              <a:rPr lang="es-ES" sz="2400" dirty="0"/>
              <a:t>A   </a:t>
            </a:r>
          </a:p>
          <a:p>
            <a:pPr marL="0" indent="0">
              <a:buNone/>
            </a:pPr>
            <a:r>
              <a:rPr lang="es-ES" sz="2400" dirty="0"/>
              <a:t>Psicoterapia                        ____</a:t>
            </a:r>
            <a:r>
              <a:rPr lang="pt-BR" sz="2400" b="1" dirty="0"/>
              <a:t>Campo de investigação interdisciplinar que envolvem áreas como a                psicologia, a psiquiatria e a neurologia.</a:t>
            </a:r>
            <a:endParaRPr lang="es-ES" sz="2400" b="1" dirty="0"/>
          </a:p>
          <a:p>
            <a:pPr marL="0" indent="0">
              <a:buNone/>
            </a:pPr>
            <a:r>
              <a:rPr lang="es-ES" sz="2400" dirty="0"/>
              <a:t>Terapia Ocupacional           ___</a:t>
            </a:r>
            <a:r>
              <a:rPr lang="pt-BR" sz="2400" b="1" dirty="0"/>
              <a:t>É um tipo de terapia cuja finalidade é tratar os problemas psicológicos</a:t>
            </a:r>
            <a:endParaRPr lang="es-ES" sz="2400" b="1" dirty="0"/>
          </a:p>
          <a:p>
            <a:pPr marL="0" indent="0">
              <a:buNone/>
            </a:pPr>
            <a:r>
              <a:rPr lang="es-ES" sz="2400" dirty="0" err="1"/>
              <a:t>Psiquiatria</a:t>
            </a:r>
            <a:r>
              <a:rPr lang="es-ES" sz="2400" dirty="0"/>
              <a:t>                           ___</a:t>
            </a:r>
            <a:r>
              <a:rPr lang="pt-BR" sz="2400" b="1" dirty="0"/>
              <a:t>Educação e na esfera social, reunindo tecnologias orientadas para a emancipação e autonomia das pessoas </a:t>
            </a:r>
            <a:endParaRPr lang="es-ES" sz="2400" b="1" dirty="0"/>
          </a:p>
          <a:p>
            <a:pPr marL="0" indent="0">
              <a:buNone/>
            </a:pPr>
            <a:r>
              <a:rPr lang="es-ES" sz="2400" dirty="0" err="1"/>
              <a:t>Resilienca</a:t>
            </a:r>
            <a:r>
              <a:rPr lang="es-ES" sz="2400" dirty="0"/>
              <a:t> psicológica        ____</a:t>
            </a:r>
            <a:r>
              <a:rPr lang="pt-BR" sz="2400" b="1" dirty="0" err="1"/>
              <a:t>Especialidad</a:t>
            </a:r>
            <a:r>
              <a:rPr lang="pt-BR" sz="2400" b="1" dirty="0"/>
              <a:t> da Medicina, responsável pelo diagnóstico e tratamento dos chamados Transtornos Mentais e de Comportamento</a:t>
            </a:r>
            <a:endParaRPr lang="es-ES" sz="2400" b="1" dirty="0"/>
          </a:p>
          <a:p>
            <a:pPr marL="0" indent="0">
              <a:buNone/>
            </a:pPr>
            <a:r>
              <a:rPr lang="es-ES" sz="2400" dirty="0"/>
              <a:t>Trastorno mental                ____ </a:t>
            </a:r>
            <a:r>
              <a:rPr lang="pt-BR" sz="2400" b="1" dirty="0"/>
              <a:t>É a capacidade de o indivíduo lidar com problemas, adaptar-se a mudanças</a:t>
            </a:r>
            <a:endParaRPr lang="es-ES" sz="2400" b="1" dirty="0"/>
          </a:p>
        </p:txBody>
      </p:sp>
    </p:spTree>
    <p:extLst>
      <p:ext uri="{BB962C8B-B14F-4D97-AF65-F5344CB8AC3E}">
        <p14:creationId xmlns:p14="http://schemas.microsoft.com/office/powerpoint/2010/main" val="412364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Conferência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Compreender os principais transtornos mentais e psiquiátricos na infância e adolescência.</a:t>
            </a:r>
          </a:p>
          <a:p>
            <a:r>
              <a:t>- Identificar diferenças entre manifestações nas duas etapas.</a:t>
            </a:r>
          </a:p>
          <a:p>
            <a:r>
              <a:t>- Analisar quadro clínico, etiologia e tratamento.</a:t>
            </a:r>
          </a:p>
          <a:p>
            <a:r>
              <a:t>- Aplicar diagnósticos e intervenções de enfermagem adequados.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 infância e a adolescência são períodos críticos de desenvolvimento emocional e cognitivo.</a:t>
            </a:r>
          </a:p>
          <a:p>
            <a:r>
              <a:t>- Perturbações mentais podem afetar o rendimento escolar, as relações sociais e o bem-estar familiar.</a:t>
            </a:r>
          </a:p>
          <a:p>
            <a:r>
              <a:t>- O papel do enfermeiro psiquiátrico é essencial na deteção precoce, acompanhamento e intervenção terapêutica.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Diferenças entre Infância e Adolescência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Aspeto | Infância | Adolescência</a:t>
            </a:r>
          </a:p>
          <a:p>
            <a:r>
              <a:t>Desenvolvimento cognitivo | Pensamento concreto | Pensamento abstrato e crítico</a:t>
            </a:r>
          </a:p>
          <a:p>
            <a:r>
              <a:t>Emoções | Egocentrismo afetivo | Instabilidade emocional e busca de identidade</a:t>
            </a:r>
          </a:p>
          <a:p>
            <a:r>
              <a:t>Socialização | Dependência familiar | Influência dos pares</a:t>
            </a:r>
          </a:p>
          <a:p>
            <a:r>
              <a:t>Expressão de sintomas | Comportamental (birras, regressão) | Verbal (tristeza, ideação suicida)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Perturbações do Neurodesenvolvimento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Conceito: alterações precoces que afetam a comunicação, a cognição e o comportamento.</a:t>
            </a:r>
          </a:p>
          <a:p>
            <a:r>
              <a:t>Principais:</a:t>
            </a:r>
          </a:p>
          <a:p>
            <a:r>
              <a:t>- Perturbação do Espectro do Autismo (PEA)</a:t>
            </a:r>
          </a:p>
          <a:p>
            <a:r>
              <a:t>- Perturbação de Défice de Atenção e Hiperatividade (PDAH)</a:t>
            </a:r>
          </a:p>
          <a:p>
            <a:r>
              <a:t>- Perturbações Específicas da Aprendizagem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Perturbação do Espectro do Autismo (PEA)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Conceito: comprometimento persistente da comunicação social e padrões restritos de comportamento.</a:t>
            </a:r>
          </a:p>
          <a:p>
            <a:r>
              <a:t>Etiologia: fatores genéticos, alterações neurobiológicas, fatores pré-natais.</a:t>
            </a:r>
          </a:p>
          <a:p>
            <a:r>
              <a:t>Quadro Clínico: défice na interação social, comunicação limitada, movimentos repetitivos.</a:t>
            </a:r>
          </a:p>
          <a:p>
            <a:r>
              <a:t>Tratamento: terapias comportamentais; psicofármacos (risperidona, aripiprazol).</a:t>
            </a:r>
          </a:p>
          <a:p>
            <a:r>
              <a:t>Diagnósticos de Enfermagem: comunicação verbal prejudicada; isolamento social; padrões de comportamento ineficazes.</a:t>
            </a:r>
          </a:p>
          <a:p>
            <a:r>
              <a:t>Intervenções: reforço positivo; estruturação do ambiente; apoio aos cuidadores.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Perturbação de Défice de Atenção e Hiperatividade (PDAH)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err="1"/>
              <a:t>Conceito</a:t>
            </a:r>
            <a:r>
              <a:rPr dirty="0"/>
              <a:t>: </a:t>
            </a:r>
            <a:r>
              <a:rPr dirty="0" err="1"/>
              <a:t>padrão</a:t>
            </a:r>
            <a:r>
              <a:rPr dirty="0"/>
              <a:t> </a:t>
            </a:r>
            <a:r>
              <a:rPr dirty="0" err="1"/>
              <a:t>persistente</a:t>
            </a:r>
            <a:r>
              <a:rPr dirty="0"/>
              <a:t> de </a:t>
            </a:r>
            <a:r>
              <a:rPr dirty="0" err="1"/>
              <a:t>desatenção</a:t>
            </a:r>
            <a:r>
              <a:rPr dirty="0"/>
              <a:t> e/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hiperatividade-impulsividade</a:t>
            </a:r>
            <a:r>
              <a:rPr dirty="0"/>
              <a:t>.</a:t>
            </a:r>
          </a:p>
          <a:p>
            <a:r>
              <a:rPr dirty="0" err="1"/>
              <a:t>Etiologia</a:t>
            </a:r>
            <a:r>
              <a:rPr dirty="0"/>
              <a:t>: </a:t>
            </a:r>
            <a:r>
              <a:rPr dirty="0" err="1"/>
              <a:t>genética</a:t>
            </a:r>
            <a:r>
              <a:rPr dirty="0"/>
              <a:t>, </a:t>
            </a:r>
            <a:r>
              <a:rPr dirty="0" err="1"/>
              <a:t>dopamina</a:t>
            </a:r>
            <a:r>
              <a:rPr dirty="0"/>
              <a:t> e </a:t>
            </a:r>
            <a:r>
              <a:rPr dirty="0" err="1"/>
              <a:t>noradrenalina</a:t>
            </a:r>
            <a:r>
              <a:rPr dirty="0"/>
              <a:t> </a:t>
            </a:r>
            <a:r>
              <a:rPr dirty="0" err="1"/>
              <a:t>alteradas</a:t>
            </a:r>
            <a:r>
              <a:rPr dirty="0"/>
              <a:t>, </a:t>
            </a:r>
            <a:r>
              <a:rPr dirty="0" err="1"/>
              <a:t>ambiente</a:t>
            </a:r>
            <a:r>
              <a:rPr dirty="0"/>
              <a:t> familiar.</a:t>
            </a:r>
          </a:p>
          <a:p>
            <a:r>
              <a:rPr dirty="0"/>
              <a:t>Quadro </a:t>
            </a:r>
            <a:r>
              <a:rPr dirty="0" err="1"/>
              <a:t>Clínico</a:t>
            </a:r>
            <a:r>
              <a:rPr dirty="0"/>
              <a:t>: </a:t>
            </a:r>
            <a:r>
              <a:rPr dirty="0" err="1"/>
              <a:t>dificuldade</a:t>
            </a:r>
            <a:r>
              <a:rPr dirty="0"/>
              <a:t> de </a:t>
            </a:r>
            <a:r>
              <a:rPr dirty="0" err="1"/>
              <a:t>concentração</a:t>
            </a:r>
            <a:r>
              <a:rPr dirty="0"/>
              <a:t>, </a:t>
            </a:r>
            <a:r>
              <a:rPr dirty="0" err="1"/>
              <a:t>impulsividade</a:t>
            </a:r>
            <a:r>
              <a:rPr dirty="0"/>
              <a:t>, </a:t>
            </a:r>
            <a:r>
              <a:rPr dirty="0" err="1"/>
              <a:t>agitação</a:t>
            </a:r>
            <a:r>
              <a:rPr dirty="0"/>
              <a:t> </a:t>
            </a:r>
            <a:r>
              <a:rPr dirty="0" err="1"/>
              <a:t>motora</a:t>
            </a:r>
            <a:r>
              <a:rPr dirty="0"/>
              <a:t>.</a:t>
            </a:r>
          </a:p>
          <a:p>
            <a:r>
              <a:rPr dirty="0" err="1"/>
              <a:t>Tratamento</a:t>
            </a:r>
            <a:r>
              <a:rPr dirty="0"/>
              <a:t>: </a:t>
            </a:r>
            <a:r>
              <a:rPr dirty="0" err="1"/>
              <a:t>metilfenidato</a:t>
            </a:r>
            <a:r>
              <a:rPr dirty="0"/>
              <a:t>, </a:t>
            </a:r>
            <a:r>
              <a:rPr dirty="0" err="1"/>
              <a:t>atomoxetina</a:t>
            </a:r>
            <a:r>
              <a:rPr dirty="0"/>
              <a:t>; </a:t>
            </a:r>
            <a:r>
              <a:rPr dirty="0" err="1"/>
              <a:t>terapia</a:t>
            </a:r>
            <a:r>
              <a:rPr dirty="0"/>
              <a:t> </a:t>
            </a:r>
            <a:r>
              <a:rPr dirty="0" err="1"/>
              <a:t>comportamental</a:t>
            </a:r>
            <a:r>
              <a:rPr dirty="0"/>
              <a:t>.</a:t>
            </a:r>
          </a:p>
          <a:p>
            <a:r>
              <a:rPr dirty="0" err="1"/>
              <a:t>Diagnósticos</a:t>
            </a:r>
            <a:r>
              <a:rPr dirty="0"/>
              <a:t> de Enfermagem: </a:t>
            </a:r>
            <a:r>
              <a:rPr dirty="0" err="1"/>
              <a:t>risco</a:t>
            </a:r>
            <a:r>
              <a:rPr dirty="0"/>
              <a:t> de </a:t>
            </a:r>
            <a:r>
              <a:rPr dirty="0" err="1"/>
              <a:t>baixa</a:t>
            </a:r>
            <a:r>
              <a:rPr dirty="0"/>
              <a:t> </a:t>
            </a:r>
            <a:r>
              <a:rPr dirty="0" err="1"/>
              <a:t>autoestima</a:t>
            </a:r>
            <a:r>
              <a:rPr dirty="0"/>
              <a:t>; </a:t>
            </a:r>
            <a:r>
              <a:rPr dirty="0" err="1"/>
              <a:t>intolerância</a:t>
            </a:r>
            <a:r>
              <a:rPr dirty="0"/>
              <a:t> à </a:t>
            </a:r>
            <a:r>
              <a:rPr dirty="0" err="1"/>
              <a:t>frustração</a:t>
            </a:r>
            <a:r>
              <a:rPr dirty="0"/>
              <a:t>.</a:t>
            </a:r>
          </a:p>
          <a:p>
            <a:r>
              <a:rPr dirty="0" err="1"/>
              <a:t>Intervenções</a:t>
            </a:r>
            <a:r>
              <a:rPr dirty="0"/>
              <a:t>: </a:t>
            </a:r>
            <a:r>
              <a:rPr dirty="0" err="1"/>
              <a:t>reforço</a:t>
            </a:r>
            <a:r>
              <a:rPr dirty="0"/>
              <a:t> </a:t>
            </a:r>
            <a:r>
              <a:rPr dirty="0" err="1"/>
              <a:t>positivo</a:t>
            </a:r>
            <a:r>
              <a:rPr dirty="0"/>
              <a:t>, </a:t>
            </a:r>
            <a:r>
              <a:rPr dirty="0" err="1"/>
              <a:t>técnicas</a:t>
            </a:r>
            <a:r>
              <a:rPr dirty="0"/>
              <a:t> de </a:t>
            </a:r>
            <a:r>
              <a:rPr dirty="0" err="1"/>
              <a:t>autocontrolo</a:t>
            </a:r>
            <a:r>
              <a:rPr dirty="0"/>
              <a:t>, </a:t>
            </a:r>
            <a:r>
              <a:rPr dirty="0" err="1"/>
              <a:t>rotinas</a:t>
            </a:r>
            <a:r>
              <a:rPr dirty="0"/>
              <a:t> </a:t>
            </a:r>
            <a:r>
              <a:rPr dirty="0" err="1"/>
              <a:t>estruturadas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Perturbações de Ansiedade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Conceito: resposta emocional desproporcionada a situações quotidianas.</a:t>
            </a:r>
          </a:p>
          <a:p>
            <a:r>
              <a:t>Tipos: ansiedade generalizada, fobias específicas, perturbação de pânico, ansiedade de separação.</a:t>
            </a:r>
          </a:p>
          <a:p>
            <a:r>
              <a:t>Etiologia: fatores genéticos, experiências traumáticas, ambiente familiar.</a:t>
            </a:r>
          </a:p>
          <a:p>
            <a:r>
              <a:t>Tratamento: psicoterapia cognitivo-comportamental, ansiolíticos leves.</a:t>
            </a:r>
          </a:p>
          <a:p>
            <a:r>
              <a:t>Diagnósticos: medo; padrão de sono perturbado; coping ineficaz.</a:t>
            </a:r>
          </a:p>
          <a:p>
            <a:r>
              <a:t>Intervenções: ensino de técnicas de relaxamento; promoção da autoconfiança.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Perturbação Obsessivo-Compulsiva (POC)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err="1"/>
              <a:t>Conceito</a:t>
            </a:r>
            <a:r>
              <a:rPr dirty="0"/>
              <a:t>: </a:t>
            </a:r>
            <a:r>
              <a:rPr dirty="0" err="1"/>
              <a:t>presença</a:t>
            </a:r>
            <a:r>
              <a:rPr dirty="0"/>
              <a:t> de </a:t>
            </a:r>
            <a:r>
              <a:rPr dirty="0" err="1"/>
              <a:t>obsessões</a:t>
            </a:r>
            <a:r>
              <a:rPr dirty="0"/>
              <a:t> (</a:t>
            </a:r>
            <a:r>
              <a:rPr dirty="0" err="1"/>
              <a:t>pensamentos</a:t>
            </a:r>
            <a:r>
              <a:rPr dirty="0"/>
              <a:t> </a:t>
            </a:r>
            <a:r>
              <a:rPr dirty="0" err="1"/>
              <a:t>intrusivos</a:t>
            </a:r>
            <a:r>
              <a:rPr dirty="0"/>
              <a:t>) e/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compulsões</a:t>
            </a:r>
            <a:r>
              <a:rPr dirty="0"/>
              <a:t> (</a:t>
            </a:r>
            <a:r>
              <a:rPr dirty="0" err="1"/>
              <a:t>atos</a:t>
            </a:r>
            <a:r>
              <a:rPr dirty="0"/>
              <a:t> </a:t>
            </a:r>
            <a:r>
              <a:rPr dirty="0" err="1"/>
              <a:t>repetitivos</a:t>
            </a:r>
            <a:r>
              <a:rPr dirty="0"/>
              <a:t>).</a:t>
            </a:r>
          </a:p>
          <a:p>
            <a:r>
              <a:rPr dirty="0"/>
              <a:t>Quadro </a:t>
            </a:r>
            <a:r>
              <a:rPr dirty="0" err="1"/>
              <a:t>Clínico</a:t>
            </a:r>
            <a:r>
              <a:rPr dirty="0"/>
              <a:t>: </a:t>
            </a:r>
            <a:r>
              <a:rPr dirty="0" err="1"/>
              <a:t>rituais</a:t>
            </a:r>
            <a:r>
              <a:rPr dirty="0"/>
              <a:t>, </a:t>
            </a:r>
            <a:r>
              <a:rPr dirty="0" err="1"/>
              <a:t>ansiedade</a:t>
            </a:r>
            <a:r>
              <a:rPr dirty="0"/>
              <a:t> </a:t>
            </a:r>
            <a:r>
              <a:rPr dirty="0" err="1"/>
              <a:t>intensa</a:t>
            </a:r>
            <a:r>
              <a:rPr dirty="0"/>
              <a:t> se </a:t>
            </a:r>
            <a:r>
              <a:rPr dirty="0" err="1"/>
              <a:t>impedido</a:t>
            </a:r>
            <a:r>
              <a:rPr dirty="0"/>
              <a:t> de </a:t>
            </a:r>
            <a:r>
              <a:rPr dirty="0" err="1"/>
              <a:t>realizá-los</a:t>
            </a:r>
            <a:r>
              <a:rPr dirty="0"/>
              <a:t>.</a:t>
            </a:r>
          </a:p>
          <a:p>
            <a:r>
              <a:rPr dirty="0" err="1"/>
              <a:t>Tratamento</a:t>
            </a:r>
            <a:r>
              <a:rPr dirty="0"/>
              <a:t>: (</a:t>
            </a:r>
            <a:r>
              <a:rPr dirty="0" err="1"/>
              <a:t>fluoxetina</a:t>
            </a:r>
            <a:r>
              <a:rPr dirty="0"/>
              <a:t>, </a:t>
            </a:r>
            <a:r>
              <a:rPr dirty="0" err="1"/>
              <a:t>sertralina</a:t>
            </a:r>
            <a:r>
              <a:rPr dirty="0"/>
              <a:t>); </a:t>
            </a:r>
            <a:r>
              <a:rPr dirty="0" err="1"/>
              <a:t>terapia</a:t>
            </a:r>
            <a:r>
              <a:rPr dirty="0"/>
              <a:t> </a:t>
            </a:r>
            <a:r>
              <a:rPr dirty="0" err="1"/>
              <a:t>cognitivo-comportamental</a:t>
            </a:r>
            <a:r>
              <a:rPr dirty="0"/>
              <a:t>.</a:t>
            </a:r>
          </a:p>
          <a:p>
            <a:r>
              <a:rPr dirty="0" err="1"/>
              <a:t>Diagnósticos</a:t>
            </a:r>
            <a:r>
              <a:rPr dirty="0"/>
              <a:t>: </a:t>
            </a:r>
            <a:r>
              <a:rPr dirty="0" err="1"/>
              <a:t>ansiedade</a:t>
            </a:r>
            <a:r>
              <a:rPr dirty="0"/>
              <a:t>; </a:t>
            </a: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repetitivo</a:t>
            </a:r>
            <a:r>
              <a:rPr dirty="0"/>
              <a:t> </a:t>
            </a:r>
            <a:r>
              <a:rPr dirty="0" err="1"/>
              <a:t>ineficaz</a:t>
            </a:r>
            <a:r>
              <a:rPr dirty="0"/>
              <a:t>.</a:t>
            </a:r>
          </a:p>
          <a:p>
            <a:r>
              <a:rPr dirty="0" err="1"/>
              <a:t>Intervenções</a:t>
            </a:r>
            <a:r>
              <a:rPr dirty="0"/>
              <a:t>: </a:t>
            </a:r>
            <a:r>
              <a:rPr dirty="0" err="1"/>
              <a:t>apoio</a:t>
            </a:r>
            <a:r>
              <a:rPr dirty="0"/>
              <a:t> à </a:t>
            </a:r>
            <a:r>
              <a:rPr dirty="0" err="1"/>
              <a:t>expressão</a:t>
            </a:r>
            <a:r>
              <a:rPr dirty="0"/>
              <a:t> </a:t>
            </a:r>
            <a:r>
              <a:rPr dirty="0" err="1"/>
              <a:t>emocional</a:t>
            </a:r>
            <a:r>
              <a:rPr dirty="0"/>
              <a:t>; </a:t>
            </a: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reforçar</a:t>
            </a:r>
            <a:r>
              <a:rPr dirty="0"/>
              <a:t> </a:t>
            </a:r>
            <a:r>
              <a:rPr dirty="0" err="1"/>
              <a:t>compulsões</a:t>
            </a:r>
            <a:r>
              <a:rPr dirty="0"/>
              <a:t>; </a:t>
            </a:r>
            <a:r>
              <a:rPr dirty="0" err="1"/>
              <a:t>ensino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tratamento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Perturbações Depressivas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Conceito: humor deprimido, perda de interesse e alterações no apetite/sono.</a:t>
            </a:r>
          </a:p>
          <a:p>
            <a:r>
              <a:t>Infância: irritabilidade, baixo rendimento escolar.</a:t>
            </a:r>
          </a:p>
          <a:p>
            <a:r>
              <a:t>Adolescência: ideação suicida, abuso de substâncias.</a:t>
            </a:r>
          </a:p>
          <a:p>
            <a:r>
              <a:t>Tratamento: ISRS (fluoxetina); terapia familiar.</a:t>
            </a:r>
          </a:p>
          <a:p>
            <a:r>
              <a:t>Diagnósticos: risco de suicídio; desesperança.</a:t>
            </a:r>
          </a:p>
          <a:p>
            <a:r>
              <a:t>Intervenções: escuta ativa; avaliação do risco; reforço da rede de apoio.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Perturbações Bipolares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Conceito: alternância entre episódios de euforia e depressão.</a:t>
            </a:r>
          </a:p>
          <a:p>
            <a:r>
              <a:t>Etiologia: fatores genéticos, desequilíbrio neuroquímico.</a:t>
            </a:r>
          </a:p>
          <a:p>
            <a:r>
              <a:t>Tratamento: estabilizadores do humor (lítio, valproato); psicoterapia.</a:t>
            </a:r>
          </a:p>
          <a:p>
            <a:r>
              <a:t>Diagnósticos: risco de lesão; controlo de impulsos ineficaz.</a:t>
            </a:r>
          </a:p>
          <a:p>
            <a:r>
              <a:t>Intervenções: segurança; administração correta da terapêutica; educação sobre adesão.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Esquizofrenia na Adolescência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Conceito: distorção do pensamento, perceções e emoções.</a:t>
            </a:r>
          </a:p>
          <a:p>
            <a:r>
              <a:t>Etiologia: fatores genéticos e neuroquímicos.</a:t>
            </a:r>
          </a:p>
          <a:p>
            <a:r>
              <a:t>Quadro Clínico: alucinações, delírios, retraimento social.</a:t>
            </a:r>
          </a:p>
          <a:p>
            <a:r>
              <a:t>Tratamento: antipsicóticos (risperidona, olanzapina); psicoterapia familiar.</a:t>
            </a:r>
          </a:p>
          <a:p>
            <a:r>
              <a:t>Diagnósticos: perceção sensorial perturbada; pensamento desorganizado.</a:t>
            </a:r>
          </a:p>
          <a:p>
            <a:r>
              <a:t>Intervenções: manutenção de ambiente calmo; reforço da adesão terapêutica.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Perturbações de Conduta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Conceito: padrão repetitivo de comportamento agressivo ou violador de normas.</a:t>
            </a:r>
          </a:p>
          <a:p>
            <a:r>
              <a:t>Etiologia: ambiente familiar disfuncional, fatores sociais.</a:t>
            </a:r>
          </a:p>
          <a:p>
            <a:r>
              <a:t>Tratamento: intervenção psicossocial, estabilizadores do humor.</a:t>
            </a:r>
          </a:p>
          <a:p>
            <a:r>
              <a:t>Diagnósticos: risco de violência; interação social ineficaz.</a:t>
            </a:r>
          </a:p>
          <a:p>
            <a:r>
              <a:t>Intervenções: limites claros; reforço de comportamentos positivos.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Perturbação Opositora Desafiante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Conceito: padrão de comportamento negativista, hostil e desafiante em relação a figuras de autoridade.</a:t>
            </a:r>
          </a:p>
          <a:p>
            <a:r>
              <a:t>Quadro Clínico: discussões frequentes, provocação deliberada.</a:t>
            </a:r>
          </a:p>
          <a:p>
            <a:r>
              <a:t>Tratamento: psicoterapia cognitivo-comportamental.</a:t>
            </a:r>
          </a:p>
          <a:p>
            <a:r>
              <a:t>Diagnósticos: coping familiar comprometido.</a:t>
            </a:r>
          </a:p>
          <a:p>
            <a:r>
              <a:t>Intervenções: apoio parental; reforço de disciplina positiva.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Perturbações do Comportamento Alimentar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Tipos: anorexia nervosa, bulimia nervosa.</a:t>
            </a:r>
          </a:p>
          <a:p>
            <a:r>
              <a:t>Infância: rara, mas pode ocorrer rejeição alimentar persistente.</a:t>
            </a:r>
          </a:p>
          <a:p>
            <a:r>
              <a:t>Adolescência: preocupação excessiva com a imagem corporal.</a:t>
            </a:r>
          </a:p>
          <a:p>
            <a:r>
              <a:t>Tratamento: antidepressivos; acompanhamento nutricional.</a:t>
            </a:r>
          </a:p>
          <a:p>
            <a:r>
              <a:t>Diagnósticos: nutrição desequilibrada; imagem corporal perturbada.</a:t>
            </a:r>
          </a:p>
          <a:p>
            <a:r>
              <a:t>Intervenções: monitorização do peso; educação alimentar.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Perturbações de Eliminação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Tipos: enurese, encoprese.</a:t>
            </a:r>
          </a:p>
          <a:p>
            <a:r>
              <a:t>Etiologia: fatores emocionais, atraso no controlo esfincteriano.</a:t>
            </a:r>
          </a:p>
          <a:p>
            <a:r>
              <a:t>Tratamento: terapia comportamental; dessensibilização; suporte parental.</a:t>
            </a:r>
          </a:p>
          <a:p>
            <a:r>
              <a:t>Diagnósticos: baixa autoestima; vergonha.</a:t>
            </a:r>
          </a:p>
          <a:p>
            <a:r>
              <a:t>Intervenções: reforço positivo; evitar punições.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6AE9F-877E-7A79-FA3F-0B0974D87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RESUMO DE SALA DE AULAS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37ADFC-1674-DC3E-3CAF-176A4D0DA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/>
              <a:t>PROXIMA SALA DE AULAS : CONTINUAÇÃO DAS PERTURBAÇÕES MENTAIS E PSQUIATRICAS NA INFANÇA E ADOLESCENÇA.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8119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1033</Words>
  <Application>Microsoft Office PowerPoint</Application>
  <PresentationFormat>Panorámica</PresentationFormat>
  <Paragraphs>105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Arial Black</vt:lpstr>
      <vt:lpstr>Office Theme</vt:lpstr>
      <vt:lpstr>Afecções Mentais e Psiquiátricas na Infância e Adolescência</vt:lpstr>
      <vt:lpstr>RESUMO DE SALA DE AULAS </vt:lpstr>
      <vt:lpstr>Objetivos da Conferência</vt:lpstr>
      <vt:lpstr>Introdução</vt:lpstr>
      <vt:lpstr>Diferenças entre Infância e Adolescência</vt:lpstr>
      <vt:lpstr>Perturbações do Neurodesenvolvimento</vt:lpstr>
      <vt:lpstr>Perturbação do Espectro do Autismo (PEA)</vt:lpstr>
      <vt:lpstr>Perturbação de Défice de Atenção e Hiperatividade (PDAH)</vt:lpstr>
      <vt:lpstr>Perturbações de Ansiedade</vt:lpstr>
      <vt:lpstr>Perturbação Obsessivo-Compulsiva (POC)</vt:lpstr>
      <vt:lpstr>Perturbações Depressivas</vt:lpstr>
      <vt:lpstr>Perturbações Bipolares</vt:lpstr>
      <vt:lpstr>Esquizofrenia na Adolescência</vt:lpstr>
      <vt:lpstr>Perturbações de Conduta</vt:lpstr>
      <vt:lpstr>Perturbação Opositora Desafiante</vt:lpstr>
      <vt:lpstr>Perturbações do Comportamento Alimentar</vt:lpstr>
      <vt:lpstr>Perturbações de Eliminação</vt:lpstr>
      <vt:lpstr>RESUMO DE SALA DE AULAS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Yaniela Guerrero Guerrero</cp:lastModifiedBy>
  <cp:revision>6</cp:revision>
  <dcterms:created xsi:type="dcterms:W3CDTF">2013-01-27T09:14:16Z</dcterms:created>
  <dcterms:modified xsi:type="dcterms:W3CDTF">2025-11-08T21:51:48Z</dcterms:modified>
  <cp:category/>
</cp:coreProperties>
</file>